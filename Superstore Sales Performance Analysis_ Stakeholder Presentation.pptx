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ewsreader"/>
      <p:regular r:id="rId14"/>
      <p:bold r:id="rId15"/>
      <p:italic r:id="rId16"/>
      <p:boldItalic r:id="rId17"/>
    </p:embeddedFont>
    <p:embeddedFont>
      <p:font typeface="DM Sans Light"/>
      <p:regular r:id="rId18"/>
      <p:bold r:id="rId19"/>
      <p:italic r:id="rId20"/>
      <p:boldItalic r:id="rId21"/>
    </p:embeddedFont>
    <p:embeddedFont>
      <p:font typeface="DM Sans SemiBold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  <p:embeddedFont>
      <p:font typeface="Newsreader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wsreaderSemiBold-bold.fntdata"/><Relationship Id="rId30" Type="http://schemas.openxmlformats.org/officeDocument/2006/relationships/font" Target="fonts/NewsreaderSemiBold-regular.fntdata"/><Relationship Id="rId33" Type="http://schemas.openxmlformats.org/officeDocument/2006/relationships/font" Target="fonts/NewsreaderSemiBold-boldItalic.fntdata"/><Relationship Id="rId32" Type="http://schemas.openxmlformats.org/officeDocument/2006/relationships/font" Target="fonts/NewsreaderSemiBold-italic.fntdata"/><Relationship Id="rId20" Type="http://schemas.openxmlformats.org/officeDocument/2006/relationships/font" Target="fonts/DMSansLight-italic.fntdata"/><Relationship Id="rId22" Type="http://schemas.openxmlformats.org/officeDocument/2006/relationships/font" Target="fonts/DMSansSemiBold-regular.fntdata"/><Relationship Id="rId21" Type="http://schemas.openxmlformats.org/officeDocument/2006/relationships/font" Target="fonts/DMSansLight-boldItalic.fntdata"/><Relationship Id="rId24" Type="http://schemas.openxmlformats.org/officeDocument/2006/relationships/font" Target="fonts/DMSansSemiBold-italic.fntdata"/><Relationship Id="rId23" Type="http://schemas.openxmlformats.org/officeDocument/2006/relationships/font" Target="fonts/DMSansSemiBold-bold.fntdata"/><Relationship Id="rId26" Type="http://schemas.openxmlformats.org/officeDocument/2006/relationships/font" Target="fonts/DMSans-regular.fntdata"/><Relationship Id="rId25" Type="http://schemas.openxmlformats.org/officeDocument/2006/relationships/font" Target="fonts/DMSansSemiBold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29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ewsreader-bold.fntdata"/><Relationship Id="rId14" Type="http://schemas.openxmlformats.org/officeDocument/2006/relationships/font" Target="fonts/Newsreader-regular.fntdata"/><Relationship Id="rId17" Type="http://schemas.openxmlformats.org/officeDocument/2006/relationships/font" Target="fonts/Newsreader-boldItalic.fntdata"/><Relationship Id="rId16" Type="http://schemas.openxmlformats.org/officeDocument/2006/relationships/font" Target="fonts/Newsreader-italic.fntdata"/><Relationship Id="rId19" Type="http://schemas.openxmlformats.org/officeDocument/2006/relationships/font" Target="fonts/DMSansLight-bold.fntdata"/><Relationship Id="rId18" Type="http://schemas.openxmlformats.org/officeDocument/2006/relationships/font" Target="fonts/DM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465bba9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465bba9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465bba9cd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465bba9cd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465bba9cd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465bba9cd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b465bba9cd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b465bba9cd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465bba9cd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465bba9cd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465bba9cd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465bba9cd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465bba9cd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b465bba9cd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465bba9cd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b465bba9cd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923525"/>
            <a:ext cx="3860100" cy="24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Superstore Sales Performance Analysis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23"/>
            <a:ext cx="38601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 by: Jalen Bullard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Jan 2026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Analyst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idx="4294967295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</a:t>
            </a:r>
            <a:endParaRPr/>
          </a:p>
        </p:txBody>
      </p:sp>
      <p:sp>
        <p:nvSpPr>
          <p:cNvPr id="477" name="Google Shape;477;p56"/>
          <p:cNvSpPr txBox="1"/>
          <p:nvPr>
            <p:ph idx="4294967295" type="title"/>
          </p:nvPr>
        </p:nvSpPr>
        <p:spPr>
          <a:xfrm>
            <a:off x="361975" y="667375"/>
            <a:ext cx="3860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  <p:sp>
        <p:nvSpPr>
          <p:cNvPr id="478" name="Google Shape;478;p56"/>
          <p:cNvSpPr txBox="1"/>
          <p:nvPr>
            <p:ph idx="1" type="subTitle"/>
          </p:nvPr>
        </p:nvSpPr>
        <p:spPr>
          <a:xfrm>
            <a:off x="148300" y="1681950"/>
            <a:ext cx="4225200" cy="25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Analyze the sales and profit trends over time, across different regions, and among various product categories.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Identify regions of exceptional performance and areas requiring improvement.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Offer data-informed recommendations to enhance profitability.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6"/>
          <p:cNvSpPr txBox="1"/>
          <p:nvPr>
            <p:ph type="title"/>
          </p:nvPr>
        </p:nvSpPr>
        <p:spPr>
          <a:xfrm>
            <a:off x="210475" y="701100"/>
            <a:ext cx="4163100" cy="6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idx="4294967295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</a:t>
            </a:r>
            <a:endParaRPr/>
          </a:p>
        </p:txBody>
      </p:sp>
      <p:sp>
        <p:nvSpPr>
          <p:cNvPr id="485" name="Google Shape;485;p57"/>
          <p:cNvSpPr txBox="1"/>
          <p:nvPr>
            <p:ph idx="4294967295" type="title"/>
          </p:nvPr>
        </p:nvSpPr>
        <p:spPr>
          <a:xfrm>
            <a:off x="361975" y="667375"/>
            <a:ext cx="3860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  <p:sp>
        <p:nvSpPr>
          <p:cNvPr id="486" name="Google Shape;486;p57"/>
          <p:cNvSpPr txBox="1"/>
          <p:nvPr>
            <p:ph idx="1" type="subTitle"/>
          </p:nvPr>
        </p:nvSpPr>
        <p:spPr>
          <a:xfrm>
            <a:off x="148300" y="1681950"/>
            <a:ext cx="4225200" cy="3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The overall sales trend indicates consistent growth, with distinct seasonal surges at year-end.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The Western region consistently generates the highest sales revenue.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Technology remains the most lucrative category, whereas Furniture underperforms.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Profitability differs considerably across categories despite comparable sales volumes.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7"/>
          <p:cNvSpPr txBox="1"/>
          <p:nvPr>
            <p:ph type="title"/>
          </p:nvPr>
        </p:nvSpPr>
        <p:spPr>
          <a:xfrm>
            <a:off x="210475" y="701100"/>
            <a:ext cx="4163100" cy="6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Insights Summary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/>
          <p:nvPr>
            <p:ph idx="1" type="subTitle"/>
          </p:nvPr>
        </p:nvSpPr>
        <p:spPr>
          <a:xfrm>
            <a:off x="2589900" y="221525"/>
            <a:ext cx="4119000" cy="14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Sales demonstrate a sustained upward trend over the long term.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Notable month-to-month fluctuations indicate the presence of seasonality.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Significant increases in sales typically occur at the conclusion of each year.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93" name="Google Shape;493;p5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5" y="1801500"/>
            <a:ext cx="8937371" cy="326784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8"/>
          <p:cNvSpPr txBox="1"/>
          <p:nvPr>
            <p:ph type="title"/>
          </p:nvPr>
        </p:nvSpPr>
        <p:spPr>
          <a:xfrm>
            <a:off x="168350" y="163900"/>
            <a:ext cx="2770800" cy="8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Sales Show Long-Term Growth With Clear Year-End Seasonality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"/>
          <p:cNvSpPr txBox="1"/>
          <p:nvPr>
            <p:ph idx="1" type="subTitle"/>
          </p:nvPr>
        </p:nvSpPr>
        <p:spPr>
          <a:xfrm>
            <a:off x="2589900" y="398725"/>
            <a:ext cx="4119000" cy="12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western region reports the greatest overall sales.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East trails in near proximity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South persistently underperforms in comparison to other regions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59"/>
          <p:cNvSpPr txBox="1"/>
          <p:nvPr>
            <p:ph type="title"/>
          </p:nvPr>
        </p:nvSpPr>
        <p:spPr>
          <a:xfrm>
            <a:off x="168350" y="398725"/>
            <a:ext cx="2325900" cy="114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West and East Drive the Majority of Sales While South Underperforms</a:t>
            </a:r>
            <a:endParaRPr sz="2000"/>
          </a:p>
        </p:txBody>
      </p:sp>
      <p:pic>
        <p:nvPicPr>
          <p:cNvPr id="501" name="Google Shape;501;p5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3725"/>
            <a:ext cx="4742008" cy="31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"/>
          <p:cNvSpPr txBox="1"/>
          <p:nvPr>
            <p:ph idx="1" type="subTitle"/>
          </p:nvPr>
        </p:nvSpPr>
        <p:spPr>
          <a:xfrm>
            <a:off x="2589900" y="398725"/>
            <a:ext cx="4119000" cy="12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Technology yields the most significant aggregate profit.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Office Supplies maintains consistent yet modest profitability.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Furniture represents the least profitable category.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7" name="Google Shape;507;p60"/>
          <p:cNvSpPr txBox="1"/>
          <p:nvPr>
            <p:ph type="title"/>
          </p:nvPr>
        </p:nvSpPr>
        <p:spPr>
          <a:xfrm>
            <a:off x="168350" y="120775"/>
            <a:ext cx="2325900" cy="140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Technology Generates the Most Profit While Furniture Lags Significantly</a:t>
            </a:r>
            <a:endParaRPr sz="2000"/>
          </a:p>
        </p:txBody>
      </p:sp>
      <p:pic>
        <p:nvPicPr>
          <p:cNvPr id="508" name="Google Shape;508;p6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2025"/>
            <a:ext cx="5197985" cy="32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1"/>
          <p:cNvSpPr txBox="1"/>
          <p:nvPr>
            <p:ph idx="4294967295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</a:t>
            </a:r>
            <a:endParaRPr/>
          </a:p>
        </p:txBody>
      </p:sp>
      <p:sp>
        <p:nvSpPr>
          <p:cNvPr id="514" name="Google Shape;514;p61"/>
          <p:cNvSpPr txBox="1"/>
          <p:nvPr>
            <p:ph idx="4294967295" type="title"/>
          </p:nvPr>
        </p:nvSpPr>
        <p:spPr>
          <a:xfrm>
            <a:off x="361975" y="667375"/>
            <a:ext cx="3860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  <p:sp>
        <p:nvSpPr>
          <p:cNvPr id="515" name="Google Shape;515;p61"/>
          <p:cNvSpPr txBox="1"/>
          <p:nvPr>
            <p:ph idx="1" type="subTitle"/>
          </p:nvPr>
        </p:nvSpPr>
        <p:spPr>
          <a:xfrm>
            <a:off x="148300" y="1681950"/>
            <a:ext cx="4225200" cy="3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Enhance investment and marketing efforts in Technology products to optimize profitability.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Analyze the cost structure and pricing strategy for the Furniture category.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Formulate targeted development strategies for the Southern region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Perform a more comprehensive analysis of seasonal drivers to enhance inventory planning.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1"/>
          <p:cNvSpPr txBox="1"/>
          <p:nvPr>
            <p:ph type="title"/>
          </p:nvPr>
        </p:nvSpPr>
        <p:spPr>
          <a:xfrm>
            <a:off x="210475" y="701100"/>
            <a:ext cx="4163100" cy="6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Recommendations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2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