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Lora"/>
      <p:regular r:id="rId15"/>
      <p:bold r:id="rId16"/>
      <p:italic r:id="rId17"/>
      <p:boldItalic r:id="rId18"/>
    </p:embeddedFont>
    <p:embeddedFont>
      <p:font typeface="Newsreader"/>
      <p:regular r:id="rId19"/>
      <p:bold r:id="rId20"/>
      <p:italic r:id="rId21"/>
      <p:boldItalic r:id="rId22"/>
    </p:embeddedFont>
    <p:embeddedFont>
      <p:font typeface="DM Sans Light"/>
      <p:regular r:id="rId23"/>
      <p:bold r:id="rId24"/>
      <p:italic r:id="rId25"/>
      <p:boldItalic r:id="rId26"/>
    </p:embeddedFont>
    <p:embeddedFont>
      <p:font typeface="DM Sans SemiBold"/>
      <p:regular r:id="rId27"/>
      <p:bold r:id="rId28"/>
      <p:italic r:id="rId29"/>
      <p:boldItalic r:id="rId30"/>
    </p:embeddedFont>
    <p:embeddedFont>
      <p:font typeface="DM Sans"/>
      <p:regular r:id="rId31"/>
      <p:bold r:id="rId32"/>
      <p:italic r:id="rId33"/>
      <p:boldItalic r:id="rId34"/>
    </p:embeddedFont>
    <p:embeddedFont>
      <p:font typeface="Newsreader SemiBold"/>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regular.fntdata"/><Relationship Id="rId30" Type="http://schemas.openxmlformats.org/officeDocument/2006/relationships/font" Target="fonts/DMSansSemiBold-boldItalic.fntdata"/><Relationship Id="rId33" Type="http://schemas.openxmlformats.org/officeDocument/2006/relationships/font" Target="fonts/DMSans-italic.fntdata"/><Relationship Id="rId32" Type="http://schemas.openxmlformats.org/officeDocument/2006/relationships/font" Target="fonts/DMSans-bold.fntdata"/><Relationship Id="rId35" Type="http://schemas.openxmlformats.org/officeDocument/2006/relationships/font" Target="fonts/NewsreaderSemiBold-regular.fntdata"/><Relationship Id="rId34" Type="http://schemas.openxmlformats.org/officeDocument/2006/relationships/font" Target="fonts/DMSans-boldItalic.fntdata"/><Relationship Id="rId37" Type="http://schemas.openxmlformats.org/officeDocument/2006/relationships/font" Target="fonts/NewsreaderSemiBold-italic.fntdata"/><Relationship Id="rId36" Type="http://schemas.openxmlformats.org/officeDocument/2006/relationships/font" Target="fonts/NewsreaderSemiBold-bold.fntdata"/><Relationship Id="rId38" Type="http://schemas.openxmlformats.org/officeDocument/2006/relationships/font" Target="fonts/NewsreaderSemiBold-boldItalic.fntdata"/><Relationship Id="rId20" Type="http://schemas.openxmlformats.org/officeDocument/2006/relationships/font" Target="fonts/Newsreader-bold.fntdata"/><Relationship Id="rId22" Type="http://schemas.openxmlformats.org/officeDocument/2006/relationships/font" Target="fonts/Newsreader-boldItalic.fntdata"/><Relationship Id="rId21" Type="http://schemas.openxmlformats.org/officeDocument/2006/relationships/font" Target="fonts/Newsreader-italic.fntdata"/><Relationship Id="rId24" Type="http://schemas.openxmlformats.org/officeDocument/2006/relationships/font" Target="fonts/DMSansLight-bold.fntdata"/><Relationship Id="rId23" Type="http://schemas.openxmlformats.org/officeDocument/2006/relationships/font" Target="fonts/DMSansLight-regular.fntdata"/><Relationship Id="rId26" Type="http://schemas.openxmlformats.org/officeDocument/2006/relationships/font" Target="fonts/DMSansLight-boldItalic.fntdata"/><Relationship Id="rId25" Type="http://schemas.openxmlformats.org/officeDocument/2006/relationships/font" Target="fonts/DMSansLight-italic.fntdata"/><Relationship Id="rId28" Type="http://schemas.openxmlformats.org/officeDocument/2006/relationships/font" Target="fonts/DMSansSemiBold-bold.fntdata"/><Relationship Id="rId27" Type="http://schemas.openxmlformats.org/officeDocument/2006/relationships/font" Target="fonts/DMSansSemiBold-regular.fntdata"/><Relationship Id="rId29" Type="http://schemas.openxmlformats.org/officeDocument/2006/relationships/font" Target="fonts/DMSansSem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ora-regular.fntdata"/><Relationship Id="rId14" Type="http://schemas.openxmlformats.org/officeDocument/2006/relationships/slide" Target="slides/slide9.xml"/><Relationship Id="rId17" Type="http://schemas.openxmlformats.org/officeDocument/2006/relationships/font" Target="fonts/Lora-italic.fntdata"/><Relationship Id="rId16" Type="http://schemas.openxmlformats.org/officeDocument/2006/relationships/font" Target="fonts/Lora-bold.fntdata"/><Relationship Id="rId19" Type="http://schemas.openxmlformats.org/officeDocument/2006/relationships/font" Target="fonts/Newsreader-regular.fntdata"/><Relationship Id="rId18" Type="http://schemas.openxmlformats.org/officeDocument/2006/relationships/font" Target="fonts/Lora-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465bba9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b465bba9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b465bba9cd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b465bba9cd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b465bba9cd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b465bba9cd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465bba9cd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b465bba9cd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b465bba9cd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b465bba9cd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b465bba9cd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b465bba9cd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b465bba9cd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b465bba9cd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c6330db53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c6330db53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b465bba9cd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b465bba9cd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9" name="Shape 9"/>
        <p:cNvGrpSpPr/>
        <p:nvPr/>
      </p:nvGrpSpPr>
      <p:grpSpPr>
        <a:xfrm>
          <a:off x="0" y="0"/>
          <a:ext cx="0" cy="0"/>
          <a:chOff x="0" y="0"/>
          <a:chExt cx="0" cy="0"/>
        </a:xfrm>
      </p:grpSpPr>
      <p:sp>
        <p:nvSpPr>
          <p:cNvPr id="10" name="Google Shape;10;p2"/>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1" name="Google Shape;11;p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3" name="Shape 13"/>
        <p:cNvGrpSpPr/>
        <p:nvPr/>
      </p:nvGrpSpPr>
      <p:grpSpPr>
        <a:xfrm>
          <a:off x="0" y="0"/>
          <a:ext cx="0" cy="0"/>
          <a:chOff x="0" y="0"/>
          <a:chExt cx="0" cy="0"/>
        </a:xfrm>
      </p:grpSpPr>
      <p:sp>
        <p:nvSpPr>
          <p:cNvPr id="14" name="Google Shape;14;p3"/>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5" name="Google Shape;15;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7" name="Google Shape;17;p3"/>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1" name="Shape 21"/>
        <p:cNvGrpSpPr/>
        <p:nvPr/>
      </p:nvGrpSpPr>
      <p:grpSpPr>
        <a:xfrm>
          <a:off x="0" y="0"/>
          <a:ext cx="0" cy="0"/>
          <a:chOff x="0" y="0"/>
          <a:chExt cx="0" cy="0"/>
        </a:xfrm>
      </p:grpSpPr>
      <p:sp>
        <p:nvSpPr>
          <p:cNvPr id="22" name="Google Shape;22;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4" name="Google Shape;24;p4"/>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 name="Google Shape;28;p5"/>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 name="Google Shape;29;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1" name="Google Shape;31;p5"/>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 name="Google Shape;33;p5"/>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4" name="Google Shape;34;p5"/>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5" name="Google Shape;35;p5"/>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36" name="Shape 36"/>
        <p:cNvGrpSpPr/>
        <p:nvPr/>
      </p:nvGrpSpPr>
      <p:grpSpPr>
        <a:xfrm>
          <a:off x="0" y="0"/>
          <a:ext cx="0" cy="0"/>
          <a:chOff x="0" y="0"/>
          <a:chExt cx="0" cy="0"/>
        </a:xfrm>
      </p:grpSpPr>
      <p:sp>
        <p:nvSpPr>
          <p:cNvPr id="37" name="Google Shape;37;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38" name="Google Shape;38;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40" name="Google Shape;40;p6"/>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1" name="Google Shape;41;p6"/>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42" name="Google Shape;42;p6"/>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3" name="Google Shape;43;p6"/>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44" name="Google Shape;44;p6"/>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5" name="Google Shape;45;p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46" name="Google Shape;46;p6"/>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47" name="Shape 47"/>
        <p:cNvGrpSpPr/>
        <p:nvPr/>
      </p:nvGrpSpPr>
      <p:grpSpPr>
        <a:xfrm>
          <a:off x="0" y="0"/>
          <a:ext cx="0" cy="0"/>
          <a:chOff x="0" y="0"/>
          <a:chExt cx="0" cy="0"/>
        </a:xfrm>
      </p:grpSpPr>
      <p:sp>
        <p:nvSpPr>
          <p:cNvPr id="48" name="Google Shape;48;p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50" name="Google Shape;50;p7"/>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1" name="Google Shape;51;p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2" name="Google Shape;52;p7"/>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7"/>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5" name="Google Shape;55;p7"/>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7"/>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7"/>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58" name="Shape 58"/>
        <p:cNvGrpSpPr/>
        <p:nvPr/>
      </p:nvGrpSpPr>
      <p:grpSpPr>
        <a:xfrm>
          <a:off x="0" y="0"/>
          <a:ext cx="0" cy="0"/>
          <a:chOff x="0" y="0"/>
          <a:chExt cx="0" cy="0"/>
        </a:xfrm>
      </p:grpSpPr>
      <p:sp>
        <p:nvSpPr>
          <p:cNvPr id="59" name="Google Shape;59;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 name="Google Shape;61;p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62" name="Google Shape;62;p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64" name="Google Shape;64;p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5" name="Google Shape;65;p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66" name="Google Shape;66;p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68" name="Google Shape;68;p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9" name="Shape 69"/>
        <p:cNvGrpSpPr/>
        <p:nvPr/>
      </p:nvGrpSpPr>
      <p:grpSpPr>
        <a:xfrm>
          <a:off x="0" y="0"/>
          <a:ext cx="0" cy="0"/>
          <a:chOff x="0" y="0"/>
          <a:chExt cx="0" cy="0"/>
        </a:xfrm>
      </p:grpSpPr>
      <p:sp>
        <p:nvSpPr>
          <p:cNvPr id="70" name="Google Shape;70;p9"/>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1" name="Google Shape;71;p9"/>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2" name="Google Shape;72;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4" name="Google Shape;74;p9"/>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5" name="Google Shape;75;p9"/>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 name="Google Shape;76;p9"/>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7" name="Google Shape;77;p9"/>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9"/>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79" name="Google Shape;79;p9"/>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0" name="Google Shape;80;p9"/>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1" name="Google Shape;81;p9"/>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2" name="Shape 82"/>
        <p:cNvGrpSpPr/>
        <p:nvPr/>
      </p:nvGrpSpPr>
      <p:grpSpPr>
        <a:xfrm>
          <a:off x="0" y="0"/>
          <a:ext cx="0" cy="0"/>
          <a:chOff x="0" y="0"/>
          <a:chExt cx="0" cy="0"/>
        </a:xfrm>
      </p:grpSpPr>
      <p:sp>
        <p:nvSpPr>
          <p:cNvPr id="83" name="Google Shape;83;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0"/>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86" name="Google Shape;86;p10"/>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7" name="Google Shape;87;p10"/>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8" name="Google Shape;88;p10"/>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89" name="Google Shape;89;p10"/>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0" name="Google Shape;90;p10"/>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1" name="Google Shape;91;p10"/>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2" name="Google Shape;92;p10"/>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3" name="Google Shape;93;p10"/>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10"/>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5" name="Google Shape;95;p10"/>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10"/>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97" name="Shape 97"/>
        <p:cNvGrpSpPr/>
        <p:nvPr/>
      </p:nvGrpSpPr>
      <p:grpSpPr>
        <a:xfrm>
          <a:off x="0" y="0"/>
          <a:ext cx="0" cy="0"/>
          <a:chOff x="0" y="0"/>
          <a:chExt cx="0" cy="0"/>
        </a:xfrm>
      </p:grpSpPr>
      <p:sp>
        <p:nvSpPr>
          <p:cNvPr id="98" name="Google Shape;9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0" name="Google Shape;100;p11"/>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1" name="Google Shape;101;p11"/>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2" name="Google Shape;102;p11"/>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3" name="Google Shape;103;p11"/>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4" name="Google Shape;104;p1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5" name="Google Shape;105;p11"/>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6" name="Google Shape;106;p11"/>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1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11"/>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11"/>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1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1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11"/>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3" name="Google Shape;113;p11"/>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12"/>
          <p:cNvSpPr/>
          <p:nvPr>
            <p:ph idx="2" type="pic"/>
          </p:nvPr>
        </p:nvSpPr>
        <p:spPr>
          <a:xfrm>
            <a:off x="4587725" y="-8750"/>
            <a:ext cx="4572000" cy="5152200"/>
          </a:xfrm>
          <a:prstGeom prst="rect">
            <a:avLst/>
          </a:prstGeom>
          <a:noFill/>
          <a:ln>
            <a:noFill/>
          </a:ln>
        </p:spPr>
      </p:sp>
      <p:sp>
        <p:nvSpPr>
          <p:cNvPr id="116" name="Google Shape;116;p12"/>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17" name="Google Shape;117;p12"/>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18" name="Google Shape;118;p12"/>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19" name="Shape 119"/>
        <p:cNvGrpSpPr/>
        <p:nvPr/>
      </p:nvGrpSpPr>
      <p:grpSpPr>
        <a:xfrm>
          <a:off x="0" y="0"/>
          <a:ext cx="0" cy="0"/>
          <a:chOff x="0" y="0"/>
          <a:chExt cx="0" cy="0"/>
        </a:xfrm>
      </p:grpSpPr>
      <p:sp>
        <p:nvSpPr>
          <p:cNvPr id="120" name="Google Shape;120;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1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3" name="Google Shape;123;p1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4" name="Google Shape;124;p1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 name="Google Shape;125;p1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6" name="Google Shape;126;p1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27" name="Google Shape;127;p1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28" name="Google Shape;128;p1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29" name="Google Shape;129;p1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30" name="Google Shape;130;p13"/>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1" name="Google Shape;131;p13"/>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3"/>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3" name="Google Shape;133;p13"/>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13"/>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35" name="Google Shape;135;p13"/>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3"/>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7" name="Google Shape;137;p13"/>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3"/>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9" name="Shape 139"/>
        <p:cNvGrpSpPr/>
        <p:nvPr/>
      </p:nvGrpSpPr>
      <p:grpSpPr>
        <a:xfrm>
          <a:off x="0" y="0"/>
          <a:ext cx="0" cy="0"/>
          <a:chOff x="0" y="0"/>
          <a:chExt cx="0" cy="0"/>
        </a:xfrm>
      </p:grpSpPr>
      <p:sp>
        <p:nvSpPr>
          <p:cNvPr id="140" name="Google Shape;14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14"/>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43" name="Google Shape;143;p14"/>
          <p:cNvSpPr/>
          <p:nvPr>
            <p:ph idx="2" type="pic"/>
          </p:nvPr>
        </p:nvSpPr>
        <p:spPr>
          <a:xfrm>
            <a:off x="1442350" y="3492500"/>
            <a:ext cx="408900" cy="408900"/>
          </a:xfrm>
          <a:prstGeom prst="ellipse">
            <a:avLst/>
          </a:prstGeom>
          <a:noFill/>
          <a:ln>
            <a:noFill/>
          </a:ln>
        </p:spPr>
      </p:sp>
      <p:sp>
        <p:nvSpPr>
          <p:cNvPr id="144" name="Google Shape;144;p14"/>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5" name="Google Shape;145;p14"/>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15"/>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50" name="Google Shape;150;p15"/>
          <p:cNvSpPr/>
          <p:nvPr>
            <p:ph idx="2" type="pic"/>
          </p:nvPr>
        </p:nvSpPr>
        <p:spPr>
          <a:xfrm>
            <a:off x="1442350" y="3492500"/>
            <a:ext cx="408900" cy="408900"/>
          </a:xfrm>
          <a:prstGeom prst="ellipse">
            <a:avLst/>
          </a:prstGeom>
          <a:noFill/>
          <a:ln>
            <a:noFill/>
          </a:ln>
        </p:spPr>
      </p:sp>
      <p:sp>
        <p:nvSpPr>
          <p:cNvPr id="151" name="Google Shape;151;p15"/>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2" name="Google Shape;152;p15"/>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1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1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56" name="Google Shape;156;p16"/>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16"/>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16"/>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59" name="Google Shape;159;p16"/>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0" name="Google Shape;160;p16"/>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1" name="Google Shape;161;p16"/>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62" name="Google Shape;162;p16"/>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163" name="Google Shape;163;p16"/>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16"/>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16"/>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8" name="Google Shape;168;p1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9" name="Google Shape;169;p17"/>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17"/>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17"/>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2" name="Google Shape;172;p17"/>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73" name="Google Shape;173;p17"/>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4" name="Google Shape;174;p17"/>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17"/>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6" name="Google Shape;176;p17"/>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17"/>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8" name="Google Shape;178;p17"/>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79" name="Google Shape;179;p17"/>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0" name="Google Shape;180;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1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4" name="Google Shape;184;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18"/>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186" name="Google Shape;186;p18"/>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187" name="Google Shape;187;p18"/>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18"/>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18"/>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9"/>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20"/>
          <p:cNvSpPr/>
          <p:nvPr>
            <p:ph idx="2" type="pic"/>
          </p:nvPr>
        </p:nvSpPr>
        <p:spPr>
          <a:xfrm>
            <a:off x="6289075" y="1793300"/>
            <a:ext cx="2853300" cy="3350400"/>
          </a:xfrm>
          <a:prstGeom prst="rect">
            <a:avLst/>
          </a:prstGeom>
          <a:noFill/>
          <a:ln>
            <a:noFill/>
          </a:ln>
        </p:spPr>
      </p:sp>
      <p:sp>
        <p:nvSpPr>
          <p:cNvPr id="197" name="Google Shape;197;p20"/>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198" name="Google Shape;198;p20"/>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199" name="Google Shape;199;p20"/>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21"/>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21"/>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21"/>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08" name="Google Shape;208;p21"/>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2"/>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22"/>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14" name="Google Shape;214;p2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23"/>
          <p:cNvSpPr/>
          <p:nvPr>
            <p:ph idx="2" type="pic"/>
          </p:nvPr>
        </p:nvSpPr>
        <p:spPr>
          <a:xfrm>
            <a:off x="361975" y="781775"/>
            <a:ext cx="2872800" cy="3783300"/>
          </a:xfrm>
          <a:prstGeom prst="rect">
            <a:avLst/>
          </a:prstGeom>
          <a:noFill/>
          <a:ln>
            <a:noFill/>
          </a:ln>
        </p:spPr>
      </p:sp>
      <p:sp>
        <p:nvSpPr>
          <p:cNvPr id="217" name="Google Shape;21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3"/>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23"/>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21" name="Google Shape;221;p23"/>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24"/>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24" name="Google Shape;22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24"/>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27" name="Google Shape;227;p24"/>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24"/>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29" name="Google Shape;229;p24"/>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25"/>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32" name="Google Shape;232;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25"/>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25"/>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26"/>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8" name="Google Shape;238;p26"/>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9" name="Google Shape;239;p26"/>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40" name="Google Shape;240;p2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1" name="Google Shape;241;p2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4" name="Google Shape;244;p26"/>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45" name="Google Shape;245;p2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6" name="Google Shape;246;p2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2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8" name="Google Shape;248;p2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2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0" name="Google Shape;250;p2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2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2" name="Google Shape;252;p2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2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4" name="Google Shape;254;p2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27"/>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27"/>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27"/>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27"/>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60" name="Google Shape;260;p27"/>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27"/>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27"/>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27"/>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27"/>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27"/>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27"/>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28"/>
          <p:cNvSpPr/>
          <p:nvPr>
            <p:ph idx="2" type="pic"/>
          </p:nvPr>
        </p:nvSpPr>
        <p:spPr>
          <a:xfrm>
            <a:off x="75" y="0"/>
            <a:ext cx="2853300" cy="2436600"/>
          </a:xfrm>
          <a:prstGeom prst="rect">
            <a:avLst/>
          </a:prstGeom>
          <a:noFill/>
          <a:ln>
            <a:noFill/>
          </a:ln>
        </p:spPr>
      </p:sp>
      <p:sp>
        <p:nvSpPr>
          <p:cNvPr id="271" name="Google Shape;271;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28"/>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29"/>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29"/>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29"/>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29"/>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29"/>
          <p:cNvSpPr/>
          <p:nvPr>
            <p:ph idx="5" type="pic"/>
          </p:nvPr>
        </p:nvSpPr>
        <p:spPr>
          <a:xfrm>
            <a:off x="2941550" y="1923334"/>
            <a:ext cx="991800" cy="991800"/>
          </a:xfrm>
          <a:prstGeom prst="rect">
            <a:avLst/>
          </a:prstGeom>
          <a:noFill/>
          <a:ln>
            <a:noFill/>
          </a:ln>
        </p:spPr>
      </p:sp>
      <p:sp>
        <p:nvSpPr>
          <p:cNvPr id="279" name="Google Shape;279;p29"/>
          <p:cNvSpPr/>
          <p:nvPr>
            <p:ph idx="6" type="pic"/>
          </p:nvPr>
        </p:nvSpPr>
        <p:spPr>
          <a:xfrm>
            <a:off x="5227063" y="1923334"/>
            <a:ext cx="991800" cy="991800"/>
          </a:xfrm>
          <a:prstGeom prst="rect">
            <a:avLst/>
          </a:prstGeom>
          <a:noFill/>
          <a:ln>
            <a:noFill/>
          </a:ln>
        </p:spPr>
      </p:sp>
      <p:sp>
        <p:nvSpPr>
          <p:cNvPr id="280" name="Google Shape;280;p29"/>
          <p:cNvSpPr/>
          <p:nvPr>
            <p:ph idx="7" type="pic"/>
          </p:nvPr>
        </p:nvSpPr>
        <p:spPr>
          <a:xfrm>
            <a:off x="7495263" y="1923334"/>
            <a:ext cx="991800" cy="991800"/>
          </a:xfrm>
          <a:prstGeom prst="rect">
            <a:avLst/>
          </a:prstGeom>
          <a:noFill/>
          <a:ln>
            <a:noFill/>
          </a:ln>
        </p:spPr>
      </p:sp>
      <p:cxnSp>
        <p:nvCxnSpPr>
          <p:cNvPr id="281" name="Google Shape;281;p29"/>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2" name="Google Shape;282;p29"/>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29"/>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284" name="Google Shape;284;p29"/>
          <p:cNvSpPr/>
          <p:nvPr>
            <p:ph idx="8" type="pic"/>
          </p:nvPr>
        </p:nvSpPr>
        <p:spPr>
          <a:xfrm>
            <a:off x="651288" y="1923334"/>
            <a:ext cx="991800" cy="991800"/>
          </a:xfrm>
          <a:prstGeom prst="rect">
            <a:avLst/>
          </a:prstGeom>
          <a:noFill/>
          <a:ln>
            <a:noFill/>
          </a:ln>
        </p:spPr>
      </p:sp>
      <p:sp>
        <p:nvSpPr>
          <p:cNvPr id="285" name="Google Shape;285;p29"/>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86" name="Google Shape;286;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29"/>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8" name="Google Shape;288;p29"/>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89" name="Google Shape;289;p29"/>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0" name="Google Shape;290;p29"/>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29"/>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2" name="Google Shape;292;p29"/>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3" name="Google Shape;293;p29"/>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29"/>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5" name="Google Shape;295;p29"/>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6" name="Google Shape;296;p29"/>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29"/>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8" name="Google Shape;298;p29"/>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9" name="Google Shape;299;p29"/>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30"/>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2" name="Google Shape;302;p30"/>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30"/>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30"/>
          <p:cNvSpPr/>
          <p:nvPr>
            <p:ph idx="4" type="pic"/>
          </p:nvPr>
        </p:nvSpPr>
        <p:spPr>
          <a:xfrm>
            <a:off x="6080709" y="1066100"/>
            <a:ext cx="530400" cy="530400"/>
          </a:xfrm>
          <a:prstGeom prst="rect">
            <a:avLst/>
          </a:prstGeom>
          <a:noFill/>
          <a:ln>
            <a:noFill/>
          </a:ln>
        </p:spPr>
      </p:sp>
      <p:sp>
        <p:nvSpPr>
          <p:cNvPr id="305" name="Google Shape;305;p30"/>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6" name="Google Shape;306;p30"/>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30"/>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30"/>
          <p:cNvSpPr/>
          <p:nvPr>
            <p:ph idx="8" type="pic"/>
          </p:nvPr>
        </p:nvSpPr>
        <p:spPr>
          <a:xfrm>
            <a:off x="3154659" y="1066100"/>
            <a:ext cx="530400" cy="530400"/>
          </a:xfrm>
          <a:prstGeom prst="rect">
            <a:avLst/>
          </a:prstGeom>
          <a:noFill/>
          <a:ln>
            <a:noFill/>
          </a:ln>
        </p:spPr>
      </p:sp>
      <p:sp>
        <p:nvSpPr>
          <p:cNvPr id="309" name="Google Shape;309;p30"/>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0" name="Google Shape;310;p30"/>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30"/>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30"/>
          <p:cNvSpPr/>
          <p:nvPr>
            <p:ph idx="15" type="pic"/>
          </p:nvPr>
        </p:nvSpPr>
        <p:spPr>
          <a:xfrm>
            <a:off x="6080709" y="1975864"/>
            <a:ext cx="530400" cy="530400"/>
          </a:xfrm>
          <a:prstGeom prst="rect">
            <a:avLst/>
          </a:prstGeom>
          <a:noFill/>
          <a:ln>
            <a:noFill/>
          </a:ln>
        </p:spPr>
      </p:sp>
      <p:sp>
        <p:nvSpPr>
          <p:cNvPr id="313" name="Google Shape;313;p30"/>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4" name="Google Shape;314;p30"/>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0"/>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30"/>
          <p:cNvSpPr/>
          <p:nvPr>
            <p:ph idx="19" type="pic"/>
          </p:nvPr>
        </p:nvSpPr>
        <p:spPr>
          <a:xfrm>
            <a:off x="3154659" y="1975864"/>
            <a:ext cx="530400" cy="530400"/>
          </a:xfrm>
          <a:prstGeom prst="rect">
            <a:avLst/>
          </a:prstGeom>
          <a:noFill/>
          <a:ln>
            <a:noFill/>
          </a:ln>
        </p:spPr>
      </p:sp>
      <p:sp>
        <p:nvSpPr>
          <p:cNvPr id="317" name="Google Shape;317;p30"/>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8" name="Google Shape;318;p30"/>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9" name="Google Shape;319;p30"/>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30"/>
          <p:cNvSpPr/>
          <p:nvPr>
            <p:ph idx="23" type="pic"/>
          </p:nvPr>
        </p:nvSpPr>
        <p:spPr>
          <a:xfrm>
            <a:off x="6080709" y="2883852"/>
            <a:ext cx="530400" cy="530400"/>
          </a:xfrm>
          <a:prstGeom prst="rect">
            <a:avLst/>
          </a:prstGeom>
          <a:noFill/>
          <a:ln>
            <a:noFill/>
          </a:ln>
        </p:spPr>
      </p:sp>
      <p:sp>
        <p:nvSpPr>
          <p:cNvPr id="321" name="Google Shape;321;p30"/>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2" name="Google Shape;322;p30"/>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3" name="Google Shape;323;p30"/>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30"/>
          <p:cNvSpPr/>
          <p:nvPr>
            <p:ph idx="27" type="pic"/>
          </p:nvPr>
        </p:nvSpPr>
        <p:spPr>
          <a:xfrm>
            <a:off x="3154659" y="2883852"/>
            <a:ext cx="530400" cy="530400"/>
          </a:xfrm>
          <a:prstGeom prst="rect">
            <a:avLst/>
          </a:prstGeom>
          <a:noFill/>
          <a:ln>
            <a:noFill/>
          </a:ln>
        </p:spPr>
      </p:sp>
      <p:sp>
        <p:nvSpPr>
          <p:cNvPr id="325" name="Google Shape;325;p30"/>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6" name="Google Shape;326;p30"/>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7" name="Google Shape;327;p30"/>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30"/>
          <p:cNvSpPr/>
          <p:nvPr>
            <p:ph idx="31" type="pic"/>
          </p:nvPr>
        </p:nvSpPr>
        <p:spPr>
          <a:xfrm>
            <a:off x="6080709" y="3805056"/>
            <a:ext cx="530400" cy="530400"/>
          </a:xfrm>
          <a:prstGeom prst="rect">
            <a:avLst/>
          </a:prstGeom>
          <a:noFill/>
          <a:ln>
            <a:noFill/>
          </a:ln>
        </p:spPr>
      </p:sp>
      <p:sp>
        <p:nvSpPr>
          <p:cNvPr id="329" name="Google Shape;329;p30"/>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0" name="Google Shape;330;p30"/>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1" name="Google Shape;331;p30"/>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30"/>
          <p:cNvSpPr/>
          <p:nvPr>
            <p:ph idx="35" type="pic"/>
          </p:nvPr>
        </p:nvSpPr>
        <p:spPr>
          <a:xfrm>
            <a:off x="3154659" y="3805056"/>
            <a:ext cx="530400" cy="530400"/>
          </a:xfrm>
          <a:prstGeom prst="rect">
            <a:avLst/>
          </a:prstGeom>
          <a:noFill/>
          <a:ln>
            <a:noFill/>
          </a:ln>
        </p:spPr>
      </p:sp>
      <p:sp>
        <p:nvSpPr>
          <p:cNvPr id="333" name="Google Shape;333;p30"/>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4" name="Google Shape;334;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0"/>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38" name="Google Shape;338;p31"/>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9" name="Google Shape;339;p31"/>
          <p:cNvSpPr/>
          <p:nvPr>
            <p:ph idx="2" type="pic"/>
          </p:nvPr>
        </p:nvSpPr>
        <p:spPr>
          <a:xfrm flipH="1">
            <a:off x="953803" y="1066100"/>
            <a:ext cx="2664300" cy="3002700"/>
          </a:xfrm>
          <a:prstGeom prst="rect">
            <a:avLst/>
          </a:prstGeom>
          <a:noFill/>
          <a:ln>
            <a:noFill/>
          </a:ln>
        </p:spPr>
      </p:sp>
      <p:sp>
        <p:nvSpPr>
          <p:cNvPr id="340" name="Google Shape;340;p31"/>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1"/>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31"/>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31"/>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45" name="Google Shape;345;p31"/>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32"/>
          <p:cNvGrpSpPr/>
          <p:nvPr/>
        </p:nvGrpSpPr>
        <p:grpSpPr>
          <a:xfrm>
            <a:off x="49" y="514398"/>
            <a:ext cx="9144297" cy="4115162"/>
            <a:chOff x="-18500" y="514395"/>
            <a:chExt cx="9219900" cy="4115162"/>
          </a:xfrm>
        </p:grpSpPr>
        <p:cxnSp>
          <p:nvCxnSpPr>
            <p:cNvPr id="348" name="Google Shape;348;p32"/>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49" name="Google Shape;349;p32"/>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0" name="Google Shape;350;p32"/>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1" name="Google Shape;351;p32"/>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2" name="Google Shape;352;p32"/>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3" name="Google Shape;353;p32"/>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4" name="Google Shape;354;p32"/>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5" name="Google Shape;355;p32"/>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6" name="Google Shape;356;p32"/>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357" name="Google Shape;35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2"/>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1" name="Google Shape;391;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A close-up of a modern glass structure. " id="468" name="Google Shape;468;p55"/>
          <p:cNvPicPr preferRelativeResize="0"/>
          <p:nvPr/>
        </p:nvPicPr>
        <p:blipFill rotWithShape="1">
          <a:blip r:embed="rId3">
            <a:alphaModFix/>
          </a:blip>
          <a:srcRect b="79" l="21736" r="19116" t="0"/>
          <a:stretch/>
        </p:blipFill>
        <p:spPr>
          <a:xfrm>
            <a:off x="4587725" y="-8750"/>
            <a:ext cx="4572001" cy="5148074"/>
          </a:xfrm>
          <a:prstGeom prst="rect">
            <a:avLst/>
          </a:prstGeom>
          <a:noFill/>
          <a:ln>
            <a:noFill/>
          </a:ln>
        </p:spPr>
      </p:pic>
      <p:sp>
        <p:nvSpPr>
          <p:cNvPr id="469" name="Google Shape;469;p55"/>
          <p:cNvSpPr txBox="1"/>
          <p:nvPr>
            <p:ph type="title"/>
          </p:nvPr>
        </p:nvSpPr>
        <p:spPr>
          <a:xfrm>
            <a:off x="361975" y="923525"/>
            <a:ext cx="3860100" cy="24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Lora"/>
                <a:ea typeface="Lora"/>
                <a:cs typeface="Lora"/>
                <a:sym typeface="Lora"/>
              </a:rPr>
              <a:t>Superstore Sales Performance Analysis</a:t>
            </a:r>
            <a:endParaRPr b="1">
              <a:latin typeface="Lora"/>
              <a:ea typeface="Lora"/>
              <a:cs typeface="Lora"/>
              <a:sym typeface="Lora"/>
            </a:endParaRPr>
          </a:p>
        </p:txBody>
      </p:sp>
      <p:sp>
        <p:nvSpPr>
          <p:cNvPr id="470" name="Google Shape;470;p55"/>
          <p:cNvSpPr txBox="1"/>
          <p:nvPr>
            <p:ph idx="1" type="subTitle"/>
          </p:nvPr>
        </p:nvSpPr>
        <p:spPr>
          <a:xfrm>
            <a:off x="361975" y="255523"/>
            <a:ext cx="3860100" cy="48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Prep by: Jalen Bullard</a:t>
            </a:r>
            <a:endParaRPr/>
          </a:p>
          <a:p>
            <a:pPr indent="0" lvl="0" marL="0" rtl="0" algn="ctr">
              <a:spcBef>
                <a:spcPts val="0"/>
              </a:spcBef>
              <a:spcAft>
                <a:spcPts val="0"/>
              </a:spcAft>
              <a:buNone/>
            </a:pPr>
            <a:r>
              <a:rPr lang="en"/>
              <a:t>Date: Jan 2026</a:t>
            </a:r>
            <a:endParaRPr/>
          </a:p>
        </p:txBody>
      </p:sp>
      <p:sp>
        <p:nvSpPr>
          <p:cNvPr id="471" name="Google Shape;471;p55"/>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Data Analyst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6"/>
          <p:cNvSpPr txBox="1"/>
          <p:nvPr>
            <p:ph idx="4294967295"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477" name="Google Shape;477;p56"/>
          <p:cNvSpPr txBox="1"/>
          <p:nvPr>
            <p:ph idx="4294967295" type="title"/>
          </p:nvPr>
        </p:nvSpPr>
        <p:spPr>
          <a:xfrm>
            <a:off x="361975" y="667375"/>
            <a:ext cx="3860100" cy="8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Business Objective</a:t>
            </a:r>
            <a:endParaRPr sz="2400"/>
          </a:p>
        </p:txBody>
      </p:sp>
      <p:sp>
        <p:nvSpPr>
          <p:cNvPr id="478" name="Google Shape;478;p56"/>
          <p:cNvSpPr txBox="1"/>
          <p:nvPr>
            <p:ph idx="1" type="subTitle"/>
          </p:nvPr>
        </p:nvSpPr>
        <p:spPr>
          <a:xfrm>
            <a:off x="188400" y="1510925"/>
            <a:ext cx="4470600" cy="2312700"/>
          </a:xfrm>
          <a:prstGeom prst="rect">
            <a:avLst/>
          </a:prstGeom>
        </p:spPr>
        <p:txBody>
          <a:bodyPr anchorCtr="0" anchor="t" bIns="0" lIns="0" spcFirstLastPara="1" rIns="0" wrap="square" tIns="0">
            <a:noAutofit/>
          </a:bodyPr>
          <a:lstStyle/>
          <a:p>
            <a:pPr indent="-317500" lvl="0" marL="457200" rtl="0" algn="l">
              <a:spcBef>
                <a:spcPts val="0"/>
              </a:spcBef>
              <a:spcAft>
                <a:spcPts val="0"/>
              </a:spcAft>
              <a:buClr>
                <a:schemeClr val="dk1"/>
              </a:buClr>
              <a:buSzPts val="1400"/>
              <a:buFont typeface="Lora"/>
              <a:buChar char="●"/>
            </a:pPr>
            <a:r>
              <a:rPr lang="en" sz="1400">
                <a:solidFill>
                  <a:schemeClr val="dk1"/>
                </a:solidFill>
                <a:latin typeface="Lora"/>
                <a:ea typeface="Lora"/>
                <a:cs typeface="Lora"/>
                <a:sym typeface="Lora"/>
              </a:rPr>
              <a:t>The objective of this analysis was to evaluate company sales and profitability performance from 2014–2017 across product categories and regions. The analysis identifies primary revenue and profit drivers, regional demand imbalances, and areas of profitability risk, with the goal of informing data-driven operational and strategic decisions.</a:t>
            </a:r>
            <a:endParaRPr sz="1400">
              <a:solidFill>
                <a:schemeClr val="dk1"/>
              </a:solidFill>
              <a:latin typeface="Lora"/>
              <a:ea typeface="Lora"/>
              <a:cs typeface="Lora"/>
              <a:sym typeface="Lora"/>
            </a:endParaRPr>
          </a:p>
          <a:p>
            <a:pPr indent="0" lvl="0" marL="0" rtl="0" algn="l">
              <a:spcBef>
                <a:spcPts val="0"/>
              </a:spcBef>
              <a:spcAft>
                <a:spcPts val="0"/>
              </a:spcAft>
              <a:buNone/>
            </a:pPr>
            <a:r>
              <a:t/>
            </a:r>
            <a:endParaRPr sz="1400">
              <a:latin typeface="Lora"/>
              <a:ea typeface="Lora"/>
              <a:cs typeface="Lora"/>
              <a:sym typeface="Lora"/>
            </a:endParaRPr>
          </a:p>
        </p:txBody>
      </p:sp>
      <p:sp>
        <p:nvSpPr>
          <p:cNvPr id="479" name="Google Shape;479;p56"/>
          <p:cNvSpPr txBox="1"/>
          <p:nvPr>
            <p:ph type="title"/>
          </p:nvPr>
        </p:nvSpPr>
        <p:spPr>
          <a:xfrm>
            <a:off x="210475" y="255525"/>
            <a:ext cx="4163100" cy="891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1800">
                <a:latin typeface="Lora"/>
                <a:ea typeface="Lora"/>
                <a:cs typeface="Lora"/>
                <a:sym typeface="Lora"/>
              </a:rPr>
              <a:t>Identify Revenue Drivers, Profitability Risks, and Regional Performance Gaps (2014–2017)</a:t>
            </a:r>
            <a:endParaRPr b="1" sz="1800">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7"/>
          <p:cNvSpPr txBox="1"/>
          <p:nvPr>
            <p:ph idx="4294967295"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485" name="Google Shape;485;p57"/>
          <p:cNvSpPr txBox="1"/>
          <p:nvPr>
            <p:ph idx="1" type="subTitle"/>
          </p:nvPr>
        </p:nvSpPr>
        <p:spPr>
          <a:xfrm>
            <a:off x="145050" y="1160150"/>
            <a:ext cx="4369500" cy="33912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Arial"/>
              <a:buChar char="●"/>
            </a:pPr>
            <a:r>
              <a:rPr lang="en" sz="1200">
                <a:solidFill>
                  <a:schemeClr val="dk1"/>
                </a:solidFill>
                <a:latin typeface="Lora"/>
                <a:ea typeface="Lora"/>
                <a:cs typeface="Lora"/>
                <a:sym typeface="Lora"/>
              </a:rPr>
              <a:t>Sales exhibit sustained long-term growth with pronounced year-end seasonality, indicating reliable demand patterns alongside short-term volatility.</a:t>
            </a:r>
            <a:endParaRPr sz="1200">
              <a:solidFill>
                <a:schemeClr val="dk1"/>
              </a:solidFill>
              <a:latin typeface="Lora"/>
              <a:ea typeface="Lora"/>
              <a:cs typeface="Lora"/>
              <a:sym typeface="Lora"/>
            </a:endParaRPr>
          </a:p>
          <a:p>
            <a:pPr indent="0" lvl="0" marL="457200" rtl="0" algn="l">
              <a:lnSpc>
                <a:spcPct val="115000"/>
              </a:lnSpc>
              <a:spcBef>
                <a:spcPts val="1200"/>
              </a:spcBef>
              <a:spcAft>
                <a:spcPts val="0"/>
              </a:spcAft>
              <a:buNone/>
            </a:pPr>
            <a:r>
              <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Arial"/>
              <a:buChar char="●"/>
            </a:pPr>
            <a:r>
              <a:rPr lang="en" sz="1200">
                <a:solidFill>
                  <a:schemeClr val="dk1"/>
                </a:solidFill>
                <a:latin typeface="Lora"/>
                <a:ea typeface="Lora"/>
                <a:cs typeface="Lora"/>
                <a:sym typeface="Lora"/>
              </a:rPr>
              <a:t>Technology is the primary revenue and profit driver, generating the highest total sales and consistently positive profits across all regions.</a:t>
            </a:r>
            <a:endParaRPr sz="1200">
              <a:solidFill>
                <a:schemeClr val="dk1"/>
              </a:solidFill>
              <a:latin typeface="Lora"/>
              <a:ea typeface="Lora"/>
              <a:cs typeface="Lora"/>
              <a:sym typeface="Lora"/>
            </a:endParaRPr>
          </a:p>
          <a:p>
            <a:pPr indent="0" lvl="0" marL="457200" rtl="0" algn="l">
              <a:lnSpc>
                <a:spcPct val="115000"/>
              </a:lnSpc>
              <a:spcBef>
                <a:spcPts val="1200"/>
              </a:spcBef>
              <a:spcAft>
                <a:spcPts val="0"/>
              </a:spcAft>
              <a:buNone/>
            </a:pPr>
            <a:r>
              <a:t/>
            </a:r>
            <a:endParaRPr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Font typeface="Arial"/>
              <a:buChar char="●"/>
            </a:pPr>
            <a:r>
              <a:rPr lang="en" sz="1200">
                <a:solidFill>
                  <a:schemeClr val="dk1"/>
                </a:solidFill>
                <a:latin typeface="Lora"/>
                <a:ea typeface="Lora"/>
                <a:cs typeface="Lora"/>
                <a:sym typeface="Lora"/>
              </a:rPr>
              <a:t>Regional performance varies significantly, with East and West outperforming company benchmarks, while South and Central lag in both sales and profitability.</a:t>
            </a:r>
            <a:endParaRPr sz="1200">
              <a:solidFill>
                <a:schemeClr val="dk1"/>
              </a:solidFill>
              <a:latin typeface="Lora"/>
              <a:ea typeface="Lora"/>
              <a:cs typeface="Lora"/>
              <a:sym typeface="Lora"/>
            </a:endParaRPr>
          </a:p>
          <a:p>
            <a:pPr indent="0" lvl="0" marL="457200" rtl="0" algn="l">
              <a:spcBef>
                <a:spcPts val="1200"/>
              </a:spcBef>
              <a:spcAft>
                <a:spcPts val="0"/>
              </a:spcAft>
              <a:buNone/>
            </a:pPr>
            <a:r>
              <a:t/>
            </a:r>
            <a:endParaRPr sz="1200">
              <a:solidFill>
                <a:schemeClr val="dk1"/>
              </a:solidFill>
              <a:latin typeface="Lora"/>
              <a:ea typeface="Lora"/>
              <a:cs typeface="Lora"/>
              <a:sym typeface="Lora"/>
            </a:endParaRPr>
          </a:p>
          <a:p>
            <a:pPr indent="0" lvl="0" marL="0" rtl="0" algn="l">
              <a:spcBef>
                <a:spcPts val="0"/>
              </a:spcBef>
              <a:spcAft>
                <a:spcPts val="0"/>
              </a:spcAft>
              <a:buNone/>
            </a:pPr>
            <a:r>
              <a:t/>
            </a:r>
            <a:endParaRPr sz="1200">
              <a:latin typeface="Lora"/>
              <a:ea typeface="Lora"/>
              <a:cs typeface="Lora"/>
              <a:sym typeface="Lora"/>
            </a:endParaRPr>
          </a:p>
        </p:txBody>
      </p:sp>
      <p:sp>
        <p:nvSpPr>
          <p:cNvPr id="486" name="Google Shape;486;p57"/>
          <p:cNvSpPr txBox="1"/>
          <p:nvPr>
            <p:ph type="title"/>
          </p:nvPr>
        </p:nvSpPr>
        <p:spPr>
          <a:xfrm>
            <a:off x="153475" y="216175"/>
            <a:ext cx="4277100" cy="1418700"/>
          </a:xfrm>
          <a:prstGeom prst="rect">
            <a:avLst/>
          </a:prstGeom>
        </p:spPr>
        <p:txBody>
          <a:bodyPr anchorCtr="0" anchor="b" bIns="0" lIns="0" spcFirstLastPara="1" rIns="0" wrap="square" tIns="0">
            <a:noAutofit/>
          </a:bodyPr>
          <a:lstStyle/>
          <a:p>
            <a:pPr indent="0" lvl="0" marL="0" rtl="0" algn="l">
              <a:lnSpc>
                <a:spcPct val="115000"/>
              </a:lnSpc>
              <a:spcBef>
                <a:spcPts val="1200"/>
              </a:spcBef>
              <a:spcAft>
                <a:spcPts val="0"/>
              </a:spcAft>
              <a:buNone/>
            </a:pPr>
            <a:r>
              <a:rPr b="1" lang="en" sz="1800">
                <a:latin typeface="Lora"/>
                <a:ea typeface="Lora"/>
                <a:cs typeface="Lora"/>
                <a:sym typeface="Lora"/>
              </a:rPr>
              <a:t>Sales Growth Is Driven by Technology Performance and Regional Demand Imbalances</a:t>
            </a:r>
            <a:endParaRPr b="1" sz="1800">
              <a:latin typeface="Lora"/>
              <a:ea typeface="Lora"/>
              <a:cs typeface="Lora"/>
              <a:sym typeface="Lora"/>
            </a:endParaRPr>
          </a:p>
          <a:p>
            <a:pPr indent="0" lvl="0" marL="0" rtl="0" algn="l">
              <a:spcBef>
                <a:spcPts val="1200"/>
              </a:spcBef>
              <a:spcAft>
                <a:spcPts val="0"/>
              </a:spcAft>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8"/>
          <p:cNvSpPr txBox="1"/>
          <p:nvPr>
            <p:ph idx="1" type="subTitle"/>
          </p:nvPr>
        </p:nvSpPr>
        <p:spPr>
          <a:xfrm>
            <a:off x="2923200" y="155875"/>
            <a:ext cx="3715200" cy="1489800"/>
          </a:xfrm>
          <a:prstGeom prst="rect">
            <a:avLst/>
          </a:prstGeom>
        </p:spPr>
        <p:txBody>
          <a:bodyPr anchorCtr="0" anchor="t" bIns="0" lIns="0" spcFirstLastPara="1" rIns="0" wrap="square" tIns="0">
            <a:noAutofit/>
          </a:bodyPr>
          <a:lstStyle/>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Sales demonstrate a sustained upward trend over the long term.</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Notable month-to-month fluctuations indicate the presence of seasonality.</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Significant increases in sales typically occur at the conclusion of each year.</a:t>
            </a:r>
            <a:endParaRPr sz="1200">
              <a:solidFill>
                <a:schemeClr val="dk1"/>
              </a:solidFill>
              <a:latin typeface="Lora"/>
              <a:ea typeface="Lora"/>
              <a:cs typeface="Lora"/>
              <a:sym typeface="Lora"/>
            </a:endParaRPr>
          </a:p>
          <a:p>
            <a:pPr indent="0" lvl="0" marL="0" rtl="0" algn="l">
              <a:spcBef>
                <a:spcPts val="0"/>
              </a:spcBef>
              <a:spcAft>
                <a:spcPts val="0"/>
              </a:spcAft>
              <a:buNone/>
            </a:pPr>
            <a:r>
              <a:t/>
            </a:r>
            <a:endParaRPr sz="1200">
              <a:solidFill>
                <a:schemeClr val="dk1"/>
              </a:solidFill>
              <a:latin typeface="Lora"/>
              <a:ea typeface="Lora"/>
              <a:cs typeface="Lora"/>
              <a:sym typeface="Lora"/>
            </a:endParaRPr>
          </a:p>
        </p:txBody>
      </p:sp>
      <p:sp>
        <p:nvSpPr>
          <p:cNvPr id="492" name="Google Shape;492;p58"/>
          <p:cNvSpPr txBox="1"/>
          <p:nvPr>
            <p:ph type="title"/>
          </p:nvPr>
        </p:nvSpPr>
        <p:spPr>
          <a:xfrm>
            <a:off x="152400" y="155875"/>
            <a:ext cx="2770800" cy="1208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1800">
                <a:latin typeface="Lora"/>
                <a:ea typeface="Lora"/>
                <a:cs typeface="Lora"/>
                <a:sym typeface="Lora"/>
              </a:rPr>
              <a:t>Sales Exhibit Sustained Long-Term Growth With Predictable Year-End Spikes</a:t>
            </a:r>
            <a:endParaRPr b="1" sz="1800">
              <a:latin typeface="Lora"/>
              <a:ea typeface="Lora"/>
              <a:cs typeface="Lora"/>
              <a:sym typeface="Lora"/>
            </a:endParaRPr>
          </a:p>
        </p:txBody>
      </p:sp>
      <p:pic>
        <p:nvPicPr>
          <p:cNvPr id="493" name="Google Shape;493;p58" title="Screenshot 2026-02-06 at 2.46.22 PM.png"/>
          <p:cNvPicPr preferRelativeResize="0"/>
          <p:nvPr/>
        </p:nvPicPr>
        <p:blipFill>
          <a:blip r:embed="rId3">
            <a:alphaModFix/>
          </a:blip>
          <a:stretch>
            <a:fillRect/>
          </a:stretch>
        </p:blipFill>
        <p:spPr>
          <a:xfrm>
            <a:off x="152400" y="1742850"/>
            <a:ext cx="6025477" cy="3037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9"/>
          <p:cNvSpPr txBox="1"/>
          <p:nvPr>
            <p:ph idx="1" type="subTitle"/>
          </p:nvPr>
        </p:nvSpPr>
        <p:spPr>
          <a:xfrm>
            <a:off x="2559450" y="290475"/>
            <a:ext cx="4119000" cy="1370100"/>
          </a:xfrm>
          <a:prstGeom prst="rect">
            <a:avLst/>
          </a:prstGeom>
        </p:spPr>
        <p:txBody>
          <a:bodyPr anchorCtr="0" anchor="t" bIns="0" lIns="0" spcFirstLastPara="1" rIns="0" wrap="square" tIns="0">
            <a:noAutofit/>
          </a:bodyPr>
          <a:lstStyle/>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The western region reports the greatest overall sales.</a:t>
            </a:r>
            <a:endParaRPr sz="1200">
              <a:solidFill>
                <a:schemeClr val="dk1"/>
              </a:solidFill>
              <a:latin typeface="Lora"/>
              <a:ea typeface="Lora"/>
              <a:cs typeface="Lora"/>
              <a:sym typeface="Lora"/>
            </a:endParaRPr>
          </a:p>
          <a:p>
            <a:pPr indent="0" lvl="0" marL="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East trails in near proximity</a:t>
            </a:r>
            <a:endParaRPr sz="1200">
              <a:solidFill>
                <a:schemeClr val="dk1"/>
              </a:solidFill>
              <a:latin typeface="Lora"/>
              <a:ea typeface="Lora"/>
              <a:cs typeface="Lora"/>
              <a:sym typeface="Lora"/>
            </a:endParaRPr>
          </a:p>
          <a:p>
            <a:pPr indent="0" lvl="0" marL="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South persistently underperforms in comparison to other regions</a:t>
            </a:r>
            <a:endParaRPr sz="1200">
              <a:solidFill>
                <a:schemeClr val="dk1"/>
              </a:solidFill>
              <a:latin typeface="Lora"/>
              <a:ea typeface="Lora"/>
              <a:cs typeface="Lora"/>
              <a:sym typeface="Lora"/>
            </a:endParaRPr>
          </a:p>
        </p:txBody>
      </p:sp>
      <p:sp>
        <p:nvSpPr>
          <p:cNvPr id="499" name="Google Shape;499;p59"/>
          <p:cNvSpPr txBox="1"/>
          <p:nvPr>
            <p:ph type="title"/>
          </p:nvPr>
        </p:nvSpPr>
        <p:spPr>
          <a:xfrm>
            <a:off x="100650" y="182325"/>
            <a:ext cx="2458800" cy="1370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1800">
                <a:latin typeface="Lora"/>
                <a:ea typeface="Lora"/>
                <a:cs typeface="Lora"/>
                <a:sym typeface="Lora"/>
              </a:rPr>
              <a:t>West and East Regions Generate the Majority of Revenue While the South Lags</a:t>
            </a:r>
            <a:endParaRPr b="1" sz="1800">
              <a:latin typeface="Lora"/>
              <a:ea typeface="Lora"/>
              <a:cs typeface="Lora"/>
              <a:sym typeface="Lora"/>
            </a:endParaRPr>
          </a:p>
        </p:txBody>
      </p:sp>
      <p:pic>
        <p:nvPicPr>
          <p:cNvPr id="500" name="Google Shape;500;p59" title="Screenshot 2026-02-06 at 3.03.25 PM.png"/>
          <p:cNvPicPr preferRelativeResize="0"/>
          <p:nvPr/>
        </p:nvPicPr>
        <p:blipFill>
          <a:blip r:embed="rId3">
            <a:alphaModFix/>
          </a:blip>
          <a:stretch>
            <a:fillRect/>
          </a:stretch>
        </p:blipFill>
        <p:spPr>
          <a:xfrm>
            <a:off x="152400" y="1752025"/>
            <a:ext cx="4396037" cy="32390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0"/>
          <p:cNvSpPr txBox="1"/>
          <p:nvPr>
            <p:ph idx="1" type="subTitle"/>
          </p:nvPr>
        </p:nvSpPr>
        <p:spPr>
          <a:xfrm>
            <a:off x="2559450" y="263600"/>
            <a:ext cx="4119000" cy="1344300"/>
          </a:xfrm>
          <a:prstGeom prst="rect">
            <a:avLst/>
          </a:prstGeom>
        </p:spPr>
        <p:txBody>
          <a:bodyPr anchorCtr="0" anchor="t" bIns="0" lIns="0" spcFirstLastPara="1" rIns="0" wrap="square" tIns="0">
            <a:noAutofit/>
          </a:bodyPr>
          <a:lstStyle/>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Technology yields the most significant aggregate profit.</a:t>
            </a:r>
            <a:endParaRPr sz="1200">
              <a:solidFill>
                <a:schemeClr val="dk1"/>
              </a:solidFill>
              <a:latin typeface="Lora"/>
              <a:ea typeface="Lora"/>
              <a:cs typeface="Lora"/>
              <a:sym typeface="Lora"/>
            </a:endParaRPr>
          </a:p>
          <a:p>
            <a:pPr indent="0" lvl="0" marL="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Office Supplies maintains consistent yet modest profitability.</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Furniture represents the least profitable category.</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100">
              <a:solidFill>
                <a:schemeClr val="dk1"/>
              </a:solidFill>
            </a:endParaRPr>
          </a:p>
        </p:txBody>
      </p:sp>
      <p:sp>
        <p:nvSpPr>
          <p:cNvPr id="506" name="Google Shape;506;p60"/>
          <p:cNvSpPr txBox="1"/>
          <p:nvPr>
            <p:ph type="title"/>
          </p:nvPr>
        </p:nvSpPr>
        <p:spPr>
          <a:xfrm>
            <a:off x="168350" y="120775"/>
            <a:ext cx="2325900" cy="1406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1800">
                <a:latin typeface="Lora"/>
                <a:ea typeface="Lora"/>
                <a:cs typeface="Lora"/>
                <a:sym typeface="Lora"/>
              </a:rPr>
              <a:t>Technology Accounts for the Highest Profit While Furniture Creates Margin Risk</a:t>
            </a:r>
            <a:endParaRPr b="1" sz="1800">
              <a:latin typeface="Lora"/>
              <a:ea typeface="Lora"/>
              <a:cs typeface="Lora"/>
              <a:sym typeface="Lora"/>
            </a:endParaRPr>
          </a:p>
        </p:txBody>
      </p:sp>
      <p:pic>
        <p:nvPicPr>
          <p:cNvPr id="507" name="Google Shape;507;p60" title="Screenshot 2026-02-06 at 3.04.56 PM.png"/>
          <p:cNvPicPr preferRelativeResize="0"/>
          <p:nvPr/>
        </p:nvPicPr>
        <p:blipFill>
          <a:blip r:embed="rId3">
            <a:alphaModFix/>
          </a:blip>
          <a:stretch>
            <a:fillRect/>
          </a:stretch>
        </p:blipFill>
        <p:spPr>
          <a:xfrm>
            <a:off x="152400" y="1752025"/>
            <a:ext cx="4428319" cy="32390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1"/>
          <p:cNvSpPr txBox="1"/>
          <p:nvPr>
            <p:ph idx="4294967295"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513" name="Google Shape;513;p61"/>
          <p:cNvSpPr txBox="1"/>
          <p:nvPr>
            <p:ph idx="4294967295" type="title"/>
          </p:nvPr>
        </p:nvSpPr>
        <p:spPr>
          <a:xfrm>
            <a:off x="361975" y="667375"/>
            <a:ext cx="3860100" cy="8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Business Objective</a:t>
            </a:r>
            <a:endParaRPr sz="2400"/>
          </a:p>
        </p:txBody>
      </p:sp>
      <p:sp>
        <p:nvSpPr>
          <p:cNvPr id="514" name="Google Shape;514;p61"/>
          <p:cNvSpPr txBox="1"/>
          <p:nvPr>
            <p:ph idx="1" type="subTitle"/>
          </p:nvPr>
        </p:nvSpPr>
        <p:spPr>
          <a:xfrm>
            <a:off x="148300" y="1476325"/>
            <a:ext cx="4225200" cy="2837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1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Lora"/>
                <a:ea typeface="Lora"/>
                <a:cs typeface="Lora"/>
                <a:sym typeface="Lora"/>
              </a:rPr>
              <a:t>Increase strategic investment in Technology products, focusing on high-performing East and West regions.</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Lora"/>
                <a:ea typeface="Lora"/>
                <a:cs typeface="Lora"/>
                <a:sym typeface="Lora"/>
              </a:rPr>
              <a:t>Conduct margin and cost structure analysis within the Furniture category to address persistent profitability challenges.</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Lora"/>
                <a:ea typeface="Lora"/>
                <a:cs typeface="Lora"/>
                <a:sym typeface="Lora"/>
              </a:rPr>
              <a:t>Develop targeted regional strategies for the South to improve sales penetration and operational efficiency.</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Lora"/>
                <a:ea typeface="Lora"/>
                <a:cs typeface="Lora"/>
                <a:sym typeface="Lora"/>
              </a:rPr>
              <a:t>Leverage identified seasonal demand patterns to improve inventory planning and promotional timing.</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
        <p:nvSpPr>
          <p:cNvPr id="515" name="Google Shape;515;p61"/>
          <p:cNvSpPr txBox="1"/>
          <p:nvPr>
            <p:ph type="title"/>
          </p:nvPr>
        </p:nvSpPr>
        <p:spPr>
          <a:xfrm>
            <a:off x="148300" y="155375"/>
            <a:ext cx="4225200" cy="1188900"/>
          </a:xfrm>
          <a:prstGeom prst="rect">
            <a:avLst/>
          </a:prstGeom>
        </p:spPr>
        <p:txBody>
          <a:bodyPr anchorCtr="0" anchor="b" bIns="0" lIns="0" spcFirstLastPara="1" rIns="0" wrap="square" tIns="0">
            <a:noAutofit/>
          </a:bodyPr>
          <a:lstStyle/>
          <a:p>
            <a:pPr indent="0" lvl="0" marL="0" rtl="0" algn="l">
              <a:lnSpc>
                <a:spcPct val="115000"/>
              </a:lnSpc>
              <a:spcBef>
                <a:spcPts val="1200"/>
              </a:spcBef>
              <a:spcAft>
                <a:spcPts val="0"/>
              </a:spcAft>
              <a:buNone/>
            </a:pPr>
            <a:r>
              <a:rPr b="1" lang="en" sz="1800">
                <a:latin typeface="Lora"/>
                <a:ea typeface="Lora"/>
                <a:cs typeface="Lora"/>
                <a:sym typeface="Lora"/>
              </a:rPr>
              <a:t>Targeted Investments Can Improve Profitability and Reduce Regional Risk</a:t>
            </a:r>
            <a:endParaRPr b="1" sz="1800">
              <a:latin typeface="Lora"/>
              <a:ea typeface="Lora"/>
              <a:cs typeface="Lora"/>
              <a:sym typeface="Lora"/>
            </a:endParaRPr>
          </a:p>
          <a:p>
            <a:pPr indent="0" lvl="0" marL="0" rtl="0" algn="l">
              <a:spcBef>
                <a:spcPts val="1200"/>
              </a:spcBef>
              <a:spcAft>
                <a:spcPts val="0"/>
              </a:spcAft>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2"/>
          <p:cNvSpPr txBox="1"/>
          <p:nvPr>
            <p:ph idx="4294967295" type="title"/>
          </p:nvPr>
        </p:nvSpPr>
        <p:spPr>
          <a:xfrm>
            <a:off x="361975" y="667375"/>
            <a:ext cx="3860100" cy="8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Business Objective</a:t>
            </a:r>
            <a:endParaRPr sz="2400"/>
          </a:p>
        </p:txBody>
      </p:sp>
      <p:sp>
        <p:nvSpPr>
          <p:cNvPr id="521" name="Google Shape;521;p62"/>
          <p:cNvSpPr txBox="1"/>
          <p:nvPr>
            <p:ph idx="1" type="subTitle"/>
          </p:nvPr>
        </p:nvSpPr>
        <p:spPr>
          <a:xfrm>
            <a:off x="148300" y="1681950"/>
            <a:ext cx="4225200" cy="305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1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Improved profitability through focused investment in high-margin Technology products.</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Reduced margin leakage by addressing Furniture category cost inefficiencies.</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Increased regional performance consistency via targeted South region initiatives.</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More accurate inventory and staffing decisions driven by seasonality-aware planning.</a:t>
            </a:r>
            <a:endParaRPr sz="1200">
              <a:solidFill>
                <a:schemeClr val="dk1"/>
              </a:solidFill>
              <a:latin typeface="Lora"/>
              <a:ea typeface="Lora"/>
              <a:cs typeface="Lora"/>
              <a:sym typeface="Lora"/>
            </a:endParaRPr>
          </a:p>
          <a:p>
            <a:pPr indent="0" lvl="0" marL="457200" rtl="0" algn="l">
              <a:spcBef>
                <a:spcPts val="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
        <p:nvSpPr>
          <p:cNvPr id="522" name="Google Shape;522;p62"/>
          <p:cNvSpPr txBox="1"/>
          <p:nvPr>
            <p:ph type="title"/>
          </p:nvPr>
        </p:nvSpPr>
        <p:spPr>
          <a:xfrm>
            <a:off x="210475" y="369300"/>
            <a:ext cx="4163100" cy="1041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1800">
                <a:latin typeface="Lora"/>
                <a:ea typeface="Lora"/>
                <a:cs typeface="Lora"/>
                <a:sym typeface="Lora"/>
              </a:rPr>
              <a:t>Data-Driven Actions Are Expected to Improve Profit Margins and Regional Performance</a:t>
            </a:r>
            <a:endParaRPr b="1" sz="1800">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3"/>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latin typeface="Lora"/>
                <a:ea typeface="Lora"/>
                <a:cs typeface="Lora"/>
                <a:sym typeface="Lora"/>
              </a:rPr>
              <a:t>Thank You!</a:t>
            </a:r>
            <a:endParaRPr>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